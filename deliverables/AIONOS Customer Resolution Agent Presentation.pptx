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Space Grotesk"/>
      <ns0:bold ns1:id="rIdFont17"/>
    </ns0:embeddedFont>
    <ns0:embeddedFont>
      <ns0:font typeface="Plus Jakarta Sans"/>
      <ns0:bold ns1:id="rIdFont18"/>
      <ns0:italic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5dfad720-8960-4a27-9f55-27731db96b0c.fntdata" /><ns0:Relationship Id="rIdFont18" Type="http://schemas.openxmlformats.org/officeDocument/2006/relationships/font" Target="fonts/8b0d06e0-31dc-45f2-aa12-e7a42877b68d.fntdata" /><ns0:Relationship Id="rIdFont19" Type="http://schemas.openxmlformats.org/officeDocument/2006/relationships/font" Target="fonts/99d29e03-50ac-4dd2-b4b1-01a5616d82ca.fntdata" /><ns0:Relationship Id="rIdFont20" Type="http://schemas.openxmlformats.org/officeDocument/2006/relationships/font" Target="fonts/326d0998-9954-4086-9d32-c8dfea7c56f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276850"/>
            <a:ext cx="10972800" cy="104775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4100" y="552450"/>
            <a:ext cx="1638300" cy="3048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24675" y="5610225"/>
            <a:ext cx="9525" cy="381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334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5553075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559117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87" y="5695950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5715000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500" y="60960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Assignment Brief #3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380357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PROTOTYPE &amp; SYSTEM DEFENCE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713732"/>
            <a:ext cx="11251406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Customer-Facing Resolution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391792"/>
            <a:ext cx="790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Autonomous airline disruption management system with deterministic policy guardrails, empathy-driven natural language processing, and audit-compliant escalation tracking.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5334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604837"/>
            <a:ext cx="3238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Plus Jakarta Sans"/>
              </a:rPr>
              <a:t>AGENTIC AI FACTORY | AIONOS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7825" y="5557837"/>
            <a:ext cx="527565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Space Grotesk"/>
              </a:rPr>
              <a:t>Nishant Jha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7825" y="5862637"/>
            <a:ext cx="5024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Roll No: 18124  |  B.Tech - Computer Science &amp;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0" y="5614987"/>
            <a:ext cx="3083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Dronacharya Group of Institutions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0" y="5815012"/>
            <a:ext cx="3083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Greater Noida, Uttar Pradesh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81650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78868"/>
            <a:ext cx="3505200" cy="1947862"/>
          </a:xfrm>
          <a:prstGeom prst="roundRect">
            <a:avLst>
              <a:gd name="adj" fmla="val 5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378868"/>
            <a:ext cx="3505200" cy="1947862"/>
          </a:xfrm>
          <a:prstGeom prst="roundRect">
            <a:avLst>
              <a:gd name="adj" fmla="val 5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378868"/>
            <a:ext cx="3505200" cy="1947862"/>
          </a:xfrm>
          <a:prstGeom prst="roundRect">
            <a:avLst>
              <a:gd name="adj" fmla="val 5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38575" y="5838825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72350" y="5838825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16993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616993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616993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2721768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487" y="2721768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2721768"/>
            <a:ext cx="1524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7429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System Architecture &amp; Technical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2940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SLIDE 01 / EXECUTIVE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4100" y="457200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AIONOS Resolution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150393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Spring Boot 3.3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445668"/>
            <a:ext cx="3124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Robust Java 21 REST API enforcing deterministic business logic, policy evaluations, and transaction limits.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3150393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React 18 TypeScript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3445668"/>
            <a:ext cx="3124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Interactive single-page chat interface featuring scenario switchers, PNR tracking, and real-time state displays.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3150393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H2 Database &amp; Audit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3445668"/>
            <a:ext cx="3124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Zero-config in-memory relational storage persisting PNR records, issued vouchers, and escalation tickets.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72150"/>
            <a:ext cx="2512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Policy 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251221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100% Deterministic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00" y="5772150"/>
            <a:ext cx="211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Max Agent Waiver Authority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0" y="5943600"/>
            <a:ext cx="2119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ADE80"/>
                </a:solidFill>
                <a:latin typeface="Plus Jakarta Sans"/>
              </a:rPr>
              <a:t>₹1,500 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6275" y="5772150"/>
            <a:ext cx="3726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Evaluation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6275" y="5943600"/>
            <a:ext cx="372665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ACC15"/>
                </a:solidFill>
                <a:latin typeface="Plus Jakarta Sans"/>
              </a:rPr>
              <a:t>Zero External API Key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31839"/>
            <a:ext cx="5648325" cy="2861071"/>
          </a:xfrm>
          <a:prstGeom prst="roundRect">
            <a:avLst>
              <a:gd name="adj" fmla="val 5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3925" y="4211835"/>
            <a:ext cx="5019675" cy="66675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62725" y="2138362"/>
            <a:ext cx="501967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3271837"/>
            <a:ext cx="501967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62725" y="4405312"/>
            <a:ext cx="501967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925" y="4211835"/>
            <a:ext cx="38100" cy="666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2750" y="23383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2750" y="34718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2750" y="46053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Problem Statement &amp; Project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2726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SLIDE 02 / PROBLEM &amp;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44100" y="457200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AIONOS Resolution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2646164"/>
            <a:ext cx="658832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Core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046214"/>
            <a:ext cx="5114925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Build a customer-facing resolution agent capable of turning messy, emotional airline disruption claims into accurate, policy-grounded actions without risking financial over-compensation or policy violations.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4364235"/>
            <a:ext cx="47720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Plus Jakarta Sans"/>
              </a:rPr>
              <a:t>Key Challenge: Balancing empathetic communication with strict corporate financial guardrails.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233838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9875" y="34718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9875" y="46053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DC2626"/>
                </a:solidFill>
                <a:latin typeface="Plus Jakarta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8050" y="2338387"/>
            <a:ext cx="4933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Intent &amp; Frustration Recognition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8050" y="2576512"/>
            <a:ext cx="42195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Detect passenger intent and emotional state to adjust response tone dynamically.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8050" y="3471862"/>
            <a:ext cx="4933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Grounded Data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8050" y="3709987"/>
            <a:ext cx="42195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Operate strictly using supplied customer profiles, transaction data, and service rules.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8050" y="4605337"/>
            <a:ext cx="4933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Mandatory Escalation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8050" y="4843462"/>
            <a:ext cx="42195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Automatically escalate out-of-scope requests, high waivers, or legal threats to human specialists.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6265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57437"/>
            <a:ext cx="3530649" cy="2371725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357437"/>
            <a:ext cx="3530649" cy="2371725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357437"/>
            <a:ext cx="3530649" cy="2371725"/>
          </a:xfrm>
          <a:prstGeom prst="roundRect">
            <a:avLst>
              <a:gd name="adj" fmla="val 4819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6124575"/>
            <a:ext cx="13335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581275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774" y="2581275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924" y="2581275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7429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Assignment Data &amp; Policy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2536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SLIDE 03 / DATA &amp;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4100" y="457200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AIONOS Resolution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2557462"/>
            <a:ext cx="3828876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Space Grotesk"/>
              </a:rPr>
              <a:t>Customer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9374" y="2557462"/>
            <a:ext cx="386888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Space Grotesk"/>
              </a:rPr>
              <a:t>Entitlement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0524" y="2557462"/>
            <a:ext cx="37114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Space Grotesk"/>
              </a:rPr>
              <a:t>Prohibited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2871787"/>
            <a:ext cx="3225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Priya Nair (Gold):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PNR SK4821X, Delhi → Goa (Cancelled).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309937"/>
            <a:ext cx="3225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Arvind Kulkarni (Silver):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PNR TR1190B, Mumbai → Blr (Delayed 4h).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748087"/>
            <a:ext cx="3225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Meher Kaur (Platinum):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PNR WL7742, Delhi → Hyd (Delayed 6h).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0774" y="2871787"/>
            <a:ext cx="3225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Cancellation: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Free rebook within 24h OR 100% refund.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774" y="3309937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Delay &lt; 3h: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₹500 meal voucher.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0774" y="3576637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Delay 3–5h: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Meal voucher + airport lounge access.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0774" y="3843337"/>
            <a:ext cx="3225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Delay &gt; 5h: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Meal voucher + delayed-hours hotel stay.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1924" y="2871787"/>
            <a:ext cx="3225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F1D1D"/>
                </a:solidFill>
                <a:latin typeface="Plus Jakarta Sans"/>
              </a:rPr>
              <a:t>Fare Waiver Cap: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 Cannot exceed ₹1,500 without supervisor.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1924" y="3309937"/>
            <a:ext cx="3225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F1D1D"/>
                </a:solidFill>
                <a:latin typeface="Plus Jakarta Sans"/>
              </a:rPr>
              <a:t>Loyalty Perks: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 Priority rebooking only; NO free upgrades.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1924" y="3748087"/>
            <a:ext cx="3225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F1D1D"/>
                </a:solidFill>
                <a:latin typeface="Plus Jakarta Sans"/>
              </a:rPr>
              <a:t>Refund Method: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 Strictly original payment method only.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1924" y="4186237"/>
            <a:ext cx="32258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F1D1D"/>
                </a:solidFill>
                <a:latin typeface="Plus Jakarta Sans"/>
              </a:rPr>
              <a:t>Hotel Limit: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 Delayed hours only, no full overnight stay.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43550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95562"/>
            <a:ext cx="1759892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45742" y="2595562"/>
            <a:ext cx="1759892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1885" y="2671762"/>
            <a:ext cx="2028080" cy="1323975"/>
          </a:xfrm>
          <a:prstGeom prst="roundRect">
            <a:avLst>
              <a:gd name="adj" fmla="val 8633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6216" y="2595562"/>
            <a:ext cx="1759892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22358" y="2595562"/>
            <a:ext cx="1759892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98971" y="280511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35114" y="280511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05351" y="288131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75587" y="280511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1730" y="280511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892" y="3238500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035" y="3238500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366" y="3238500"/>
            <a:ext cx="171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508" y="3238500"/>
            <a:ext cx="17145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5743575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876925"/>
            <a:ext cx="17145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7429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System Architecture &amp; Process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2381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SLIDE 04 /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4100" y="457200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AIONOS Resolution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6096" y="280511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51" y="3300412"/>
            <a:ext cx="17597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React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50" y="3557587"/>
            <a:ext cx="167599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Customer inputs message &amp; PNR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2239" y="280511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5793" y="3300412"/>
            <a:ext cx="17597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Intent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7693" y="3557587"/>
            <a:ext cx="167599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Extracts intent &amp; frustration 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2476" y="288131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0031" y="3376612"/>
            <a:ext cx="21117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3A8A"/>
                </a:solidFill>
                <a:latin typeface="Plus Jakarta Sans"/>
              </a:rPr>
              <a:t>Java Policy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0312" y="3633787"/>
            <a:ext cx="201122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40AF"/>
                </a:solidFill>
                <a:latin typeface="Plus Jakarta Sans"/>
              </a:rPr>
              <a:t>Deterministic Rule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2712" y="280511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6267" y="3300412"/>
            <a:ext cx="17597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Action / Escalate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8166" y="3557587"/>
            <a:ext cx="167599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Executes voucher or creates ticket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8855" y="280511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2409" y="3300412"/>
            <a:ext cx="17597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Audit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64309" y="3557587"/>
            <a:ext cx="167599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Persists immutable transaction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57325" y="5767387"/>
            <a:ext cx="10734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Deterministic Control Boundary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57325" y="6005512"/>
            <a:ext cx="1054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The LLM/NLU layer is strictly advisory for communication. All monetary approvals, vouchers, and fare waivers are hard-coded in Java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467100"/>
            <a:ext cx="5372100" cy="2705100"/>
          </a:xfrm>
          <a:prstGeom prst="roundRect">
            <a:avLst>
              <a:gd name="adj" fmla="val 563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467100"/>
            <a:ext cx="5372100" cy="2705100"/>
          </a:xfrm>
          <a:prstGeom prst="roundRect">
            <a:avLst>
              <a:gd name="adj" fmla="val 563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743325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743325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3829050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062" y="3829050"/>
            <a:ext cx="12382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305300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619625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933950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5248275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5743575"/>
            <a:ext cx="1428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4305300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4619625"/>
            <a:ext cx="1428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4933950"/>
            <a:ext cx="14287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5248275"/>
            <a:ext cx="1428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5562600"/>
            <a:ext cx="142875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7429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Deterministic Policy Engine &amp;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2393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SLIDE 05 / POLICY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4100" y="457200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AIONOS Resolution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3025" y="3790950"/>
            <a:ext cx="296287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4532D"/>
                </a:solidFill>
                <a:latin typeface="Space Grotesk"/>
              </a:rPr>
              <a:t>Permitted Agent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276725"/>
            <a:ext cx="6024562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Rebook on next available flight within 24h (airline-caused).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4591050"/>
            <a:ext cx="6024562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Issue ₹500 digital meal voucher for delays &gt; 0h.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4905375"/>
            <a:ext cx="6024562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Issue airport lounge access pass for delays &gt; 3h.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5219700"/>
            <a:ext cx="4914900" cy="3619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Arrange hotel stay covering delayed-hours duration for delays &gt; 5h.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5715000"/>
            <a:ext cx="6024562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"/>
              </a:rPr>
              <a:t>Initiate 100% refund to original payment method (7 business days).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3725" y="3790950"/>
            <a:ext cx="36504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7F1D1D"/>
                </a:solidFill>
                <a:latin typeface="Space Grotesk"/>
              </a:rPr>
              <a:t>Prohibited / Escalated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525" y="4276725"/>
            <a:ext cx="570547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91B1B"/>
                </a:solidFill>
                <a:latin typeface="Plus Jakarta Sans"/>
              </a:rPr>
              <a:t>Waiving fare differences exceeding ₹1,500 limit.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6525" y="4591050"/>
            <a:ext cx="570547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91B1B"/>
                </a:solidFill>
                <a:latin typeface="Plus Jakarta Sans"/>
              </a:rPr>
              <a:t>Approving complimentary upgrades to Business Class.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6525" y="4905375"/>
            <a:ext cx="570547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91B1B"/>
                </a:solidFill>
                <a:latin typeface="Plus Jakarta Sans"/>
              </a:rPr>
              <a:t>Granting full overnight hotel stay beyond delayed-hours duration.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6525" y="5219700"/>
            <a:ext cx="570547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91B1B"/>
                </a:solidFill>
                <a:latin typeface="Plus Jakarta Sans"/>
              </a:rPr>
              <a:t>Processing refunds to alternate payment methods.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6525" y="5534025"/>
            <a:ext cx="570547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91B1B"/>
                </a:solidFill>
                <a:latin typeface="Plus Jakarta Sans"/>
              </a:rPr>
              <a:t>Handling formal legal action threats (immediate escalation).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29275"/>
            <a:ext cx="10972800" cy="771525"/>
          </a:xfrm>
          <a:prstGeom prst="roundRect">
            <a:avLst>
              <a:gd name="adj" fmla="val 14814"/>
            </a:avLst>
          </a:prstGeom>
          <a:solidFill>
            <a:srgbClr val="FEF3C7"/>
          </a:solidFill>
          <a:ln w="9525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86000"/>
            <a:ext cx="5334000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286000"/>
            <a:ext cx="5334000" cy="2181225"/>
          </a:xfrm>
          <a:prstGeom prst="roundRect">
            <a:avLst>
              <a:gd name="adj" fmla="val 52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5900737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586037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586037"/>
            <a:ext cx="1333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429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AI Governance &amp; Audit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2262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SLIDE 06 /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4100" y="457200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AIONOS Resolution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2562225"/>
            <a:ext cx="5945743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AI Role Separation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933700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AI models handle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natural language understanding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and empathetic phrasing.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543300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Java PolicyEngine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maintains sole execution authority over monetary transfers, ticket updates, and voucher generation.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2562225"/>
            <a:ext cx="54387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Immutable Audit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933700"/>
            <a:ext cx="5667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Every interaction generates an audit record containing: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5829300"/>
            <a:ext cx="943867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2400E"/>
                </a:solidFill>
                <a:latin typeface="Plus Jakarta Sans"/>
              </a:rPr>
              <a:t>DemoAIService Reliability Guarantee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6029325"/>
            <a:ext cx="8989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45309"/>
                </a:solidFill>
                <a:latin typeface="Plus Jakarta Sans"/>
              </a:rPr>
              <a:t>Includes zero-dependency offline mode so reviewers can test all scenarios immediately without API key restrictions.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925" y="325755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3276600"/>
            <a:ext cx="5476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Timestamp, PNR, Customer Loyalty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925" y="350520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25" y="3524250"/>
            <a:ext cx="5476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Detected Intent &amp; Trigger Keywords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925" y="375285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5125" y="3771900"/>
            <a:ext cx="5476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Policy Engine Decision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925" y="400050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5125" y="4019550"/>
            <a:ext cx="54768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Generated Escalation Ticket ID (if applicable)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95562"/>
            <a:ext cx="4926955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5155" y="2595562"/>
            <a:ext cx="5817244" cy="1857375"/>
          </a:xfrm>
          <a:prstGeom prst="roundRect">
            <a:avLst>
              <a:gd name="adj" fmla="val 6153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2843212"/>
            <a:ext cx="1028700" cy="2190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05525"/>
            <a:ext cx="13335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280" y="2857500"/>
            <a:ext cx="21907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429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Scenario 1: Priya Nair (Gold Member)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6076950"/>
            <a:ext cx="5214937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Plus Jakarta Sans"/>
              </a:rPr>
              <a:t>Result: </a:t>
            </a:r>
            <a:r>
              <a:rPr b="1" sz="1050" i="0" u="none">
                <a:solidFill>
                  <a:srgbClr val="FFFFFF"/>
                </a:solidFill>
                <a:latin typeface="Plus Jakarta Sans"/>
              </a:rPr>
              <a:t>Refund Processed + Business Class Upgrade Escalated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9775" y="6086475"/>
            <a:ext cx="2155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Audit ID: ESC-2026-SK4821X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SLIDE 07 / SCENARIO TEST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4100" y="457200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AIONOS Resolution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2881312"/>
            <a:ext cx="895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Plus Jakarta Sans"/>
              </a:rPr>
              <a:t>PNR: SK4821X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148012"/>
            <a:ext cx="58415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Delhi → Goa (Flight SK-204)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443287"/>
            <a:ext cx="55633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Status: CANCELLED (Operational Reasons)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729037"/>
            <a:ext cx="454595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1" u="none">
                <a:solidFill>
                  <a:srgbClr val="475569"/>
                </a:solidFill>
                <a:latin typeface="Plus Jakarta Sans"/>
              </a:rPr>
              <a:t>"I am furious! I want a full cash refund and a free upgrade to business class on my return flight."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8555" y="2833687"/>
            <a:ext cx="5893444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Space Grotesk"/>
              </a:rPr>
              <a:t>Agent Resolution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3280" y="3167062"/>
            <a:ext cx="543624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1. Refund Approved:</a:t>
            </a:r>
            <a:r>
              <a:rPr b="0" sz="1050" i="0" u="none">
                <a:solidFill>
                  <a:srgbClr val="166534"/>
                </a:solidFill>
                <a:latin typeface="Plus Jakarta Sans"/>
              </a:rPr>
              <a:t> Initiated 100% refund (₹7,500) to original credit card within 7 business days per Cancellation Policy.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3280" y="3605212"/>
            <a:ext cx="543624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2. Upgrade Denied &amp; Escalated:</a:t>
            </a:r>
            <a:r>
              <a:rPr b="0" sz="1050" i="0" u="none">
                <a:solidFill>
                  <a:srgbClr val="166534"/>
                </a:solidFill>
                <a:latin typeface="Plus Jakarta Sans"/>
              </a:rPr>
              <a:t> PolicyEngine rejected complimentary Business Class upgrade (Gold tier grants priority rebooking only).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3280" y="4043362"/>
            <a:ext cx="618871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3. Ticket Created:</a:t>
            </a:r>
            <a:r>
              <a:rPr b="0" sz="1050" i="0" u="none">
                <a:solidFill>
                  <a:srgbClr val="166534"/>
                </a:solidFill>
                <a:latin typeface="Plus Jakarta Sans"/>
              </a:rPr>
              <a:t> Escalation logged for human supervisor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67000"/>
            <a:ext cx="4926955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5155" y="2667000"/>
            <a:ext cx="5817244" cy="1714500"/>
          </a:xfrm>
          <a:prstGeom prst="roundRect">
            <a:avLst>
              <a:gd name="adj" fmla="val 6666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2914650"/>
            <a:ext cx="1000125" cy="21907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05525"/>
            <a:ext cx="13335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280" y="2928937"/>
            <a:ext cx="21907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429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Scenario 2: Arvind Kulkarni (Silver Member)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6076950"/>
            <a:ext cx="5965031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Plus Jakarta Sans"/>
              </a:rPr>
              <a:t>Result: </a:t>
            </a:r>
            <a:r>
              <a:rPr b="1" sz="1050" i="0" u="none">
                <a:solidFill>
                  <a:srgbClr val="FFFFFF"/>
                </a:solidFill>
                <a:latin typeface="Plus Jakarta Sans"/>
              </a:rPr>
              <a:t>Meal Voucher + Lounge Access Issued (Hotel Blocked by Policy)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8350" y="6086475"/>
            <a:ext cx="2119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Audit ID: ACT-2026-TR1190B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SLIDE 08 / SCENARIO TEST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4100" y="457200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AIONOS Resolution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2952750"/>
            <a:ext cx="866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PNR: TR1190B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219450"/>
            <a:ext cx="58415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Mumbai → Bengaluru (Flight SK-118)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514725"/>
            <a:ext cx="55633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Status: DELAYED 4 HOURS (New Departure 11:10)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800475"/>
            <a:ext cx="454595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1" u="none">
                <a:solidFill>
                  <a:srgbClr val="475569"/>
                </a:solidFill>
                <a:latin typeface="Plus Jakarta Sans"/>
              </a:rPr>
              <a:t>"I'm missing my connecting meeting. Give me a hotel accommodation since it's such a long delay."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8555" y="2905125"/>
            <a:ext cx="5893444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Space Grotesk"/>
              </a:rPr>
              <a:t>Agent Resolution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3280" y="3238500"/>
            <a:ext cx="618871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1. Meal Voucher Issued:</a:t>
            </a:r>
            <a:r>
              <a:rPr b="0" sz="1050" i="0" u="none">
                <a:solidFill>
                  <a:srgbClr val="166534"/>
                </a:solidFill>
                <a:latin typeface="Plus Jakarta Sans"/>
              </a:rPr>
              <a:t> Automated ₹500 digital meal voucher sent for delay &gt; 0h.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3280" y="3505200"/>
            <a:ext cx="618871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2. Lounge Access Granted:</a:t>
            </a:r>
            <a:r>
              <a:rPr b="0" sz="1050" i="0" u="none">
                <a:solidFill>
                  <a:srgbClr val="166534"/>
                </a:solidFill>
                <a:latin typeface="Plus Jakarta Sans"/>
              </a:rPr>
              <a:t> Airport Lounge Pass generated for delay &gt; 3h.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3280" y="3771900"/>
            <a:ext cx="543624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3. Hotel Request Refused:</a:t>
            </a:r>
            <a:r>
              <a:rPr b="0" sz="1050" i="0" u="none">
                <a:solidFill>
                  <a:srgbClr val="166534"/>
                </a:solidFill>
                <a:latin typeface="Plus Jakarta Sans"/>
              </a:rPr>
              <a:t> Explained politely that hotel accommodation requires a delay &gt; 5 hours. Request logged as policy-blocked.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19387"/>
            <a:ext cx="10972800" cy="1333500"/>
          </a:xfrm>
          <a:prstGeom prst="roundRect">
            <a:avLst>
              <a:gd name="adj" fmla="val 1142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648325"/>
            <a:ext cx="10972800" cy="752475"/>
          </a:xfrm>
          <a:prstGeom prst="roundRect">
            <a:avLst>
              <a:gd name="adj" fmla="val 2025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2967037"/>
            <a:ext cx="2228850" cy="219075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39350" y="5872162"/>
            <a:ext cx="1266825" cy="30480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589121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501" y="3228975"/>
            <a:ext cx="104775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501" y="3438525"/>
            <a:ext cx="123825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501" y="3648075"/>
            <a:ext cx="123825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7429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Space Grotesk"/>
              </a:rPr>
              <a:t>Scenario 3 &amp; Final Submission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4083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SLIDE 09 &amp; 10 / SCENARIO 3 &amp; 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4100" y="457200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AIONOS Resolution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005137"/>
            <a:ext cx="2095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Meher Kaur (Platinum) | PNR WL7742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252787"/>
            <a:ext cx="59837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Delhi → Hyderabad (6h Delay)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509962"/>
            <a:ext cx="465430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Requests full-night hotel stay + waiver of ₹2,000 fare difference for higher-fare flight.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3501" y="2957512"/>
            <a:ext cx="631849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Agent Execution &amp; Escalations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0" y="5948362"/>
            <a:ext cx="1057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100%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3501" y="3214687"/>
            <a:ext cx="6318498" cy="15240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Delayed-Hours Hotel Voucher issued (covers 6h waiting period).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3501" y="3424237"/>
            <a:ext cx="6318498" cy="15240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Full-Night Extension escalated to supervisor.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3501" y="3633787"/>
            <a:ext cx="6318498" cy="15240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₹2,000 Fare Difference Waiver escalated (exceeds ₹1,500 agent authority cap).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4925" y="5848350"/>
            <a:ext cx="591323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Mandatory Submission Deliverables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925" y="6048375"/>
            <a:ext cx="5631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Working Prototype | GitHub Code | Open-Access Drive Video | 10-Slide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